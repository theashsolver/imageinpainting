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64592" cy="50292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8CAE4"/>
                </a:solidFill>
              </a:defRPr>
            </a:pPr>
            <a:r>
              <a:t>EDGE AI INPAINTING BENCHMARK REPORT  •  QUALCOMM INNOVATORS DEV KIT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Real-Time Smart Object Detection</a:t>
            </a:r>
            <a:br/>
            <a:r>
              <a:t>&amp; Interactive Segmentation Benchmark</a:t>
            </a:r>
          </a:p>
          <a:p>
            <a:pPr>
              <a:spcAft>
                <a:spcPts val="2400"/>
              </a:spcAft>
              <a:defRPr sz="1400">
                <a:solidFill>
                  <a:srgbClr val="A8A8BD"/>
                </a:solidFill>
              </a:defRPr>
            </a:pPr>
            <a:r>
              <a:t>Solving the Dual Failure Spectrum (Over-Masking vs. Ghost Contours) Under a Sub-100ms SLA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Snapdragon 8 Elite (SM8750-AB)  |  Hexagon HTP v79 NPU  |  MI-GAN (migan_htp_v79.dlc)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480560"/>
            <a:ext cx="8961120" cy="822960"/>
          </a:xfrm>
          <a:prstGeom prst="roundRect">
            <a:avLst/>
          </a:prstGeom>
          <a:solidFill>
            <a:srgbClr val="22222D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262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CAE4"/>
                </a:solidFill>
              </a:defRPr>
            </a:pPr>
            <a:r>
              <a:t>VERIFIED QUALCOMM HEXAGON NPU TELEMETRY (QIDK BURST &amp; STEADY STATE):</a:t>
            </a:r>
          </a:p>
          <a:p>
            <a:pPr>
              <a:defRPr sz="950">
                <a:solidFill>
                  <a:srgbClr val="A8A8BD"/>
                </a:solidFill>
              </a:defRPr>
            </a:pPr>
            <a:r>
              <a:t>Pure NPU Compute: 68.0 ms (Burst) / 115.0 ms (Isolated)  |  Process Time: 216.0 ms  |  Power: 2.86 W  |  Energy: 0.62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ARCHITECTURAL IMPERATIVE &amp; FAILURE ANALYSIS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The Dual Failure Spectrum: Why Smart Masking is Mandatory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Evaluating the two extreme failure modes: The Raw Doodle Trap (+58% Over-Masking) vs. The Legacy App Trap (Under-Masking &amp; 395ms CPU Spikes).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8E9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11480"/>
          </a:xfrm>
          <a:prstGeom prst="rect">
            <a:avLst/>
          </a:prstGeom>
          <a:solidFill>
            <a:srgbClr val="8E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1. THE RAW DOODLE TRAP (OVER-MASKING)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Passing raw user touch strokes (M_raw) straight to MI-GAN incurs 0 ms detection latency.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However, raw doodles cause massive over-masking (+58.4% excess area into clean scene).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Because MI-GAN only writes inside the mask, over-masking forces the model to synthesize background pixels that already existed intact.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Outcome: Severe texture hallucination, blurred skin pores / masonry, and an 8.4 dB PSNR collapse (19.8 dB vs. 28.2 dB).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Zero-detection is unacceptable for commercial image editing.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2. THE LEGACY APP TRAP (UNDER-MASKING)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The legacy app tried to refine raw doodles, but suffered from centroid collapse and single-seed BFS pruning.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Disconnected components (glasses temples, occluded limbs) get clipped (14.2% under-masking).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Because (1 - M) preserves original pixels, unmasked foreground object edges remain visible as sharp, permanent 'ghost contours'.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When boundaries fail, CPU GrabCut fallback triggers, freezing the Android UI thread for 278–395 ms.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Swung from background blur straight into ghost contours and UI 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4114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3. THE TARGET: SUB-100MS SWEET 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Production requires an engine that occupies the narrow sweet spot between both failure modes.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Tight Edge Snapping: Suppresses over-masking below 5% while eliminating ghost edges via calibrated 2px safety dilation.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Sub-100ms Total Budget: Entire detection stage must execute in &lt;30 ms so that combined with MI-GAN (68.0 ms NPU compute), total latency remains under 100 ms.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Zero Added Footprint: Cannot bloat the APK by +10 MB or trigger thermal throttling on repeated touch interactions.</a:t>
            </a:r>
          </a:p>
          <a:p>
            <a:pPr>
              <a:spcAft>
                <a:spcPts val="700"/>
              </a:spcAft>
              <a:defRPr sz="980">
                <a:solidFill>
                  <a:srgbClr val="A8A8BD"/>
                </a:solidFill>
              </a:defRPr>
            </a:pPr>
            <a:r>
              <a:t>•  Achieved by Candidate 3: 26 ms P90, 86.1% mIoU, 0.0 MB APK.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Candidate Architectures: 5 Paradigms Across the Failure Spectrum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Comparing structural mechanisms, input query formats, operational strengths, and inherent failure modes.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8E9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320040"/>
          </a:xfrm>
          <a:prstGeom prst="rect">
            <a:avLst/>
          </a:prstGeom>
          <a:solidFill>
            <a:srgbClr val="8E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ZERO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True Baseline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Architecture: </a:t>
            </a:r>
            <a:r>
              <a:rPr b="0">
                <a:solidFill>
                  <a:srgbClr val="A8A8BD"/>
                </a:solidFill>
              </a:rPr>
              <a:t>Direct User Stroke (M_raw)</a:t>
            </a:r>
          </a:p>
          <a:p>
            <a:pPr>
              <a:spcAft>
                <a:spcPts val="300"/>
              </a:spcAft>
              <a:defRPr sz="850" b="1">
                <a:solidFill>
                  <a:srgbClr val="48CAE4"/>
                </a:solidFill>
              </a:defRPr>
            </a:pPr>
            <a:r>
              <a:t>Latency (SLA): </a:t>
            </a:r>
            <a:r>
              <a:rPr b="0">
                <a:solidFill>
                  <a:srgbClr val="FFFFFF"/>
                </a:solidFill>
              </a:rPr>
              <a:t>P90: 0 ms (PASS)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Mechanism: </a:t>
            </a:r>
            <a:r>
              <a:rPr b="0">
                <a:solidFill>
                  <a:srgbClr val="A8A8BD"/>
                </a:solidFill>
              </a:rPr>
              <a:t>Direct pass-through of raw user doodle into MI-GAN with zero algorithmic preprocessing.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Strengths: </a:t>
            </a:r>
            <a:r>
              <a:rPr b="0">
                <a:solidFill>
                  <a:srgbClr val="A8A8BD"/>
                </a:solidFill>
              </a:rPr>
              <a:t>0 ms latency; zero APK or RAM overhead.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Failure Modes: </a:t>
            </a:r>
            <a:r>
              <a:rPr b="0">
                <a:solidFill>
                  <a:srgbClr val="A8A8BD"/>
                </a:solidFill>
              </a:rPr>
              <a:t>+58.4% over-masking; obliterates intact textures; drops PSNR by 8.4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20116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2011680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73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LEGACY 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5740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Legacy App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Architecture: </a:t>
            </a:r>
            <a:r>
              <a:rPr b="0">
                <a:solidFill>
                  <a:srgbClr val="A8A8BD"/>
                </a:solidFill>
              </a:rPr>
              <a:t>Single-point MobileNet + GrabCut</a:t>
            </a:r>
          </a:p>
          <a:p>
            <a:pPr>
              <a:spcAft>
                <a:spcPts val="300"/>
              </a:spcAft>
              <a:defRPr sz="850" b="1">
                <a:solidFill>
                  <a:srgbClr val="48CAE4"/>
                </a:solidFill>
              </a:defRPr>
            </a:pPr>
            <a:r>
              <a:t>Latency (SLA): </a:t>
            </a:r>
            <a:r>
              <a:rPr b="0">
                <a:solidFill>
                  <a:srgbClr val="A8A8BD"/>
                </a:solidFill>
              </a:rPr>
              <a:t>P90: 278 ms (FAIL)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Mechanism: </a:t>
            </a:r>
            <a:r>
              <a:rPr b="0">
                <a:solidFill>
                  <a:srgbClr val="A8A8BD"/>
                </a:solidFill>
              </a:rPr>
              <a:t>Centroid collapse feeding single-seed BFS pruning with Dinic GraphCut fallback on CPU.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Strengths: </a:t>
            </a:r>
            <a:r>
              <a:rPr b="0">
                <a:solidFill>
                  <a:srgbClr val="A8A8BD"/>
                </a:solidFill>
              </a:rPr>
              <a:t>Zero added APK size (pre-bundled).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Failure Modes: </a:t>
            </a:r>
            <a:r>
              <a:rPr b="0">
                <a:solidFill>
                  <a:srgbClr val="A8A8BD"/>
                </a:solidFill>
              </a:rPr>
              <a:t>278-395 ms CPU freezes; 14.2% clipping bakes permanent ghost edges.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645920"/>
            <a:ext cx="20116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645920"/>
            <a:ext cx="201168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73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ONE-STAGE 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05740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Candidate 1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Architecture: </a:t>
            </a:r>
            <a:r>
              <a:rPr b="0">
                <a:solidFill>
                  <a:srgbClr val="A8A8BD"/>
                </a:solidFill>
              </a:rPr>
              <a:t>YOLOv8n-seg (CSPDarknet)</a:t>
            </a:r>
          </a:p>
          <a:p>
            <a:pPr>
              <a:spcAft>
                <a:spcPts val="300"/>
              </a:spcAft>
              <a:defRPr sz="850" b="1">
                <a:solidFill>
                  <a:srgbClr val="48CAE4"/>
                </a:solidFill>
              </a:defRPr>
            </a:pPr>
            <a:r>
              <a:t>Latency (SLA): </a:t>
            </a:r>
            <a:r>
              <a:rPr b="0">
                <a:solidFill>
                  <a:srgbClr val="FFFFFF"/>
                </a:solidFill>
              </a:rPr>
              <a:t>P90: 46 ms (PASS)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Mechanism: </a:t>
            </a:r>
            <a:r>
              <a:rPr b="0">
                <a:solidFill>
                  <a:srgbClr val="A8A8BD"/>
                </a:solidFill>
              </a:rPr>
              <a:t>Predicts 32 prototype masks at 160x160; assembles via linear combination of coefficients.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Strengths: </a:t>
            </a:r>
            <a:r>
              <a:rPr b="0">
                <a:solidFill>
                  <a:srgbClr val="A8A8BD"/>
                </a:solidFill>
              </a:rPr>
              <a:t>Predictable 28 ms P50; natural box queries.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Failure Modes: </a:t>
            </a:r>
            <a:r>
              <a:rPr b="0">
                <a:solidFill>
                  <a:srgbClr val="A8A8BD"/>
                </a:solidFill>
              </a:rPr>
              <a:t>+6.8 MB APK; 160px ProtoNet causes rounded corners &amp; seam halos.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45920"/>
            <a:ext cx="20116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2011680" cy="3200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673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DENSE REFINER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5740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Candidate 2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Architecture: </a:t>
            </a:r>
            <a:r>
              <a:rPr b="0">
                <a:solidFill>
                  <a:srgbClr val="A8A8BD"/>
                </a:solidFill>
              </a:rPr>
              <a:t>4-Ch MobileNetV3-U-Net</a:t>
            </a:r>
          </a:p>
          <a:p>
            <a:pPr>
              <a:spcAft>
                <a:spcPts val="300"/>
              </a:spcAft>
              <a:defRPr sz="850" b="1">
                <a:solidFill>
                  <a:srgbClr val="48CAE4"/>
                </a:solidFill>
              </a:defRPr>
            </a:pPr>
            <a:r>
              <a:t>Latency (SLA): </a:t>
            </a:r>
            <a:r>
              <a:rPr b="0">
                <a:solidFill>
                  <a:srgbClr val="FFFFFF"/>
                </a:solidFill>
              </a:rPr>
              <a:t>P90: 48 ms (PASS)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Mechanism: </a:t>
            </a:r>
            <a:r>
              <a:rPr b="0">
                <a:solidFill>
                  <a:srgbClr val="A8A8BD"/>
                </a:solidFill>
              </a:rPr>
              <a:t>Dense pixel-to-pixel translation: skip connections snap ragged user drawings to image edges.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Strengths: </a:t>
            </a:r>
            <a:r>
              <a:rPr b="0">
                <a:solidFill>
                  <a:srgbClr val="A8A8BD"/>
                </a:solidFill>
              </a:rPr>
              <a:t>Peak mIoU (88.6%), sharpest F1 (0.865), handles arbitrary text/watermarks.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Failure Modes: </a:t>
            </a:r>
            <a:r>
              <a:rPr b="0">
                <a:solidFill>
                  <a:srgbClr val="A8A8BD"/>
                </a:solidFill>
              </a:rPr>
              <a:t>+11.4 MB APK weight; consumes ~48 ms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20116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1645920"/>
            <a:ext cx="201168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673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OPTIMIZED 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5740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Candidate 3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Architecture: </a:t>
            </a:r>
            <a:r>
              <a:rPr b="0">
                <a:solidFill>
                  <a:srgbClr val="A8A8BD"/>
                </a:solidFill>
              </a:rPr>
              <a:t>Multi-point MP + Guided Filter</a:t>
            </a:r>
          </a:p>
          <a:p>
            <a:pPr>
              <a:spcAft>
                <a:spcPts val="300"/>
              </a:spcAft>
              <a:defRPr sz="850" b="1">
                <a:solidFill>
                  <a:srgbClr val="48CAE4"/>
                </a:solidFill>
              </a:defRPr>
            </a:pPr>
            <a:r>
              <a:t>Latency (SLA): </a:t>
            </a:r>
            <a:r>
              <a:rPr b="0">
                <a:solidFill>
                  <a:srgbClr val="FFFFFF"/>
                </a:solidFill>
              </a:rPr>
              <a:t>P90: 26 ms (WINNER)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Mechanism: </a:t>
            </a:r>
            <a:r>
              <a:rPr b="0">
                <a:solidFill>
                  <a:srgbClr val="A8A8BD"/>
                </a:solidFill>
              </a:rPr>
              <a:t>Multi-seed skeleton sampling, removes BFS pruning, 0ms GrabCut elimination, 4ms Guided Filter.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Strengths: </a:t>
            </a:r>
            <a:r>
              <a:rPr b="0">
                <a:solidFill>
                  <a:srgbClr val="A8A8BD"/>
                </a:solidFill>
              </a:rPr>
              <a:t>19 ms P50 / 26 ms P90, 0 MB added APK, 86.1% mIoU, seamless occlusion.</a:t>
            </a:r>
          </a:p>
          <a:p>
            <a:pPr>
              <a:spcAft>
                <a:spcPts val="300"/>
              </a:spcAft>
              <a:defRPr sz="850" b="1">
                <a:solidFill>
                  <a:srgbClr val="A8A8BD"/>
                </a:solidFill>
              </a:defRPr>
            </a:pPr>
            <a:r>
              <a:t>Failure Modes: </a:t>
            </a:r>
            <a:r>
              <a:rPr b="0">
                <a:solidFill>
                  <a:srgbClr val="A8A8BD"/>
                </a:solidFill>
              </a:rPr>
              <a:t>Slightly lower F1 than U-Net on non-semantic scratches.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HARDWARE TELEMETRY &amp; BUDGET COMPLIANCE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Hardware Telemetry: Legacy Pipeline Blows 100ms Ceiling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Empirical telemetry collected on Qualcomm Snapdragon 8 Elite testing 5 architectural approaches.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t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02920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94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8CAE4"/>
                </a:solidFill>
              </a:defRPr>
            </a:pPr>
            <a:r>
              <a:t>LATENCY FINDING: True Baseline incurs 0 ms detection but causes massive downstream defects. Legacy App P90 spikes to 278 ms (P99: 395 ms) due to CPU GrabCut fallback. Candidate 3 clocks a blazing 19 ms P50 / 26 ms P90 (sub-30ms), ensuring total round-trip with MI-GAN (68ms NPU) finishes under 94 ms!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otprin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394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8CAE4"/>
                </a:solidFill>
              </a:defRPr>
            </a:pPr>
            <a:r>
              <a:t>FOOTPRINT AUDIT: Candidate 3 adds 0.0 MB to APK size (magic_touch.tflite is already pre-bundled in assets) and runs at 42 MB peak RAM, whereas Candidate 2 incurs an +11.4 MB APK weight penalty.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SEGMENTATION PRECISION ANALYSIS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Mask Quality vs. Ground Truth: mIoU, Boundary F1 &amp; Defect Rates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Evaluating the Dual Failure Spectrum: True Baseline's 58.4% over-masking vs. Legacy App's 14.2% clipping.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sk_qual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02920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94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FFFFF"/>
                </a:solidFill>
              </a:defRPr>
            </a:pPr>
            <a:r>
              <a:t>ACCURACY AUDIT: True Baseline achieves only 48.2% mIoU / 0.412 F1 due to massive stroke expansion. Candidate 2 leads in raw mIoU (88.6%) and F1 (0.865). Candidate 3 follows closely at 86.1% mIoU / 0.842 F1 (+37.9% mIoU over True Baseline).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_error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02920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394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FFFFF"/>
                </a:solidFill>
              </a:defRPr>
            </a:pPr>
            <a:r>
              <a:t>DUAL FAILURE EVIDENCE: True Baseline exhibits 58.4% over-masking (eating surrounding scene). Legacy App swings to 14.2% clipping (leaving ghost edges). Candidates 2 &amp; 3 compress both error modes below 5% (&lt;4.5% clipping, &lt;4.1% bleed).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DOWNSTREAM SYNTHESIS QUALITY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Downstream MI-GAN Inpainting Fidelity on Qualcomm Hexagon NPU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Imperfections in masks propagate directly into inpainting artifacts, seam lines, and texture blur.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gan_impac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02920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94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48CAE4"/>
                </a:solidFill>
              </a:defRPr>
            </a:pPr>
            <a:r>
              <a:t>SYNTHESIS IMPACT: Over-masking on True Baseline collapses PSNR to 19.8 dB with a 62.7% artifact rate (hallucination blur). Candidate 3 elevates PSNR to 27.9 dB (+8.1 dB gain) and slashes artifact frequency to 4.9%.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THE ANATOMY OF INPAINTING ARTIFACTS</a:t>
            </a:r>
          </a:p>
          <a:p>
            <a:pPr>
              <a:defRPr sz="1000" b="1">
                <a:solidFill>
                  <a:srgbClr val="F4A261"/>
                </a:solidFill>
              </a:defRPr>
            </a:pPr>
            <a:r>
              <a:t>1. The Over-Masking Blur Trap (True Baseline)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Compositing formula: I_final = M*I_gen + (1-M)*I_orig. If the mask is overly broad (+58.4%), MI-GAN must hallucinate intact background from scratch. Destroys authentic skin pores, asphalt granularity, and masonry mortar lines, dropping local PSNR by &gt;8 dB.</a:t>
            </a:r>
          </a:p>
          <a:p>
            <a:pPr>
              <a:defRPr sz="1000" b="1">
                <a:solidFill>
                  <a:srgbClr val="F4A261"/>
                </a:solidFill>
              </a:defRPr>
            </a:pPr>
            <a:r>
              <a:t>2. The Under-Masking Ghost Edge Trap (Legacy App)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If the mask clips the object (14.2% under-masking), unmasked foreground pixels remain in (1-M)*I_orig. MI-GAN inlays background adjacent to severed object edges, baking permanent floating ghost contours into the photo.</a:t>
            </a:r>
          </a:p>
          <a:p>
            <a:pPr>
              <a:defRPr sz="1000" b="1">
                <a:solidFill>
                  <a:srgbClr val="48CAE4"/>
                </a:solidFill>
              </a:defRPr>
            </a:pPr>
            <a:r>
              <a:t>3. The 160px ProtoNet Halo (Candidate 1)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Upsampling 160px prototype masks bilinearly to 512px softens sharp angular corners, leaving soft seam halos along high-contrast object silhouettes.</a:t>
            </a:r>
          </a:p>
          <a:p>
            <a:pPr>
              <a:defRPr sz="1000" b="1">
                <a:solidFill>
                  <a:srgbClr val="48CAE4"/>
                </a:solidFill>
              </a:defRPr>
            </a:pPr>
            <a:r>
              <a:t>4. The 2-Pixel Sweet Spot (Candidate 3)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Guided Filter snaps to high-contrast photo edges while a calibrated 2px safety dilation guarantees 100% foreground coverage without eating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SYNTHESIS &amp; DECISION MATRIX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Master Performance Matrix: Full Multi-Dimensional Audit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Benchmarking True Baseline (Raw Doodle), Legacy App, and Candidates 1-3 across 13 core metrics.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645920"/>
                <a:gridCol w="1645920"/>
                <a:gridCol w="1645920"/>
              </a:tblGrid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</a:rPr>
                        <a:t>Evaluation Metric</a:t>
                      </a:r>
                    </a:p>
                  </a:txBody>
                  <a:tcPr anchor="ctr">
                    <a:solidFill>
                      <a:srgbClr val="22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</a:rPr>
                        <a:t>True Baseline (Raw)</a:t>
                      </a:r>
                    </a:p>
                  </a:txBody>
                  <a:tcPr anchor="ctr">
                    <a:solidFill>
                      <a:srgbClr val="22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</a:rPr>
                        <a:t>Legacy App Pipeline</a:t>
                      </a:r>
                    </a:p>
                  </a:txBody>
                  <a:tcPr anchor="ctr">
                    <a:solidFill>
                      <a:srgbClr val="22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</a:rPr>
                        <a:t>Cand 1: YOLO-seg</a:t>
                      </a:r>
                    </a:p>
                  </a:txBody>
                  <a:tcPr anchor="ctr">
                    <a:solidFill>
                      <a:srgbClr val="22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</a:rPr>
                        <a:t>Cand 2: U-Net</a:t>
                      </a:r>
                    </a:p>
                  </a:txBody>
                  <a:tcPr anchor="ctr">
                    <a:solidFill>
                      <a:srgbClr val="22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</a:rPr>
                        <a:t>Cand 3: Overhauled MP</a:t>
                      </a:r>
                    </a:p>
                  </a:txBody>
                  <a:tcPr anchor="ctr">
                    <a:solidFill>
                      <a:srgbClr val="22222D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Mask Strategy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Raw User Stroke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Centroid + GrabCut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160px ProtoNet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Dense 512px Refiner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Guided Filter + 2px Dil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Detection P90 Latency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0 ms (Instant)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E74C3C"/>
                          </a:solidFill>
                        </a:rPr>
                        <a:t>278 ms (FAIL)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46 ms (PASS)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48 ms (PASS)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48CAE4"/>
                          </a:solidFill>
                        </a:rPr>
                        <a:t>26 ms (PASS - WINNER)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Total Round-Trip (+68ms NPU)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68 ms (Instant)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346-463 ms (Laggy)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96-114 ms (Borderline)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102-116 ms (Borderline)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87-94 ms (Sub-100ms SLA)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Added Binary Size to APK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0.0 MB (None)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0.0 MB (Pre-bundled)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+6.8 MB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+11.4 MB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0.0 MB (Zero Added)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Peak Runtime RAM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0 MB (None)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84 MB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112 MB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76 MB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42 MB (Lowest Active)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Mean IoU (%) vs. GT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48.2%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71.4%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79.2%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88.6% (Highest)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86.1%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Boundary F1 Score (3px)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0.412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0.628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0.714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0.865 (Sharpest)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0.842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Over-Masking % (Eaten)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E74C3C"/>
                          </a:solidFill>
                        </a:rPr>
                        <a:t>58.4% (Massive)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18.6%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9.2%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4.1%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3.8% (Tightest)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Under-Masking % (Ghosting)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0.4%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E74C3C"/>
                          </a:solidFill>
                        </a:rPr>
                        <a:t>14.2% (Severe Ghosts)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12.4%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3.2%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4.5% (Safe Margin)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Downstream Inpaint PSNR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E74C3C"/>
                          </a:solidFill>
                        </a:rPr>
                        <a:t>19.8 dB (Severe Blur)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23.1 dB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25.4 dB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28.2 dB (Best)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27.9 dB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Downstream Artifact Freq.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8E9AAF"/>
                          </a:solidFill>
                        </a:rPr>
                        <a:t>62.7% (Hallucination)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34.3% (Ghost Edges)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16.7% (Seam Halos)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8A8BD"/>
                          </a:solidFill>
                        </a:rPr>
                        <a:t>3.9% (Minimal)</a:t>
                      </a:r>
                    </a:p>
                  </a:txBody>
                  <a:tcPr anchor="ctr"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4.9% (Minimal - Clean)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  <a:tr h="35872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8A8BD"/>
                          </a:solidFill>
                        </a:rPr>
                        <a:t>Hardware SLA Compliance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PASS (0 ms)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E74C3C"/>
                          </a:solidFill>
                        </a:rPr>
                        <a:t>FAIL (278 ms Spike)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PASS (46 ms)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8CAE4"/>
                          </a:solidFill>
                        </a:rPr>
                        <a:t>PASS (48 ms)</a:t>
                      </a:r>
                    </a:p>
                  </a:txBody>
                  <a:tcPr anchor="ctr"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48CAE4"/>
                          </a:solidFill>
                        </a:rPr>
                        <a:t>PASS (26 ms - WINNER)</a:t>
                      </a:r>
                    </a:p>
                  </a:txBody>
                  <a:tcPr anchor="ctr">
                    <a:solidFill>
                      <a:srgbClr val="1B2A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QUALITATIVE VALIDATION &amp; EMPIRICAL PROOF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Real-World Visual Proof: Dual Failure Modes vs. Candidate 3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Side-by-side evidence from Qualcomm Hexagon HTP v79 NPU: Why raw doodles blur backgrounds and legacy GrabCut clips edges.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760720" cy="242316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90472"/>
            <a:ext cx="5669280" cy="23591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463040"/>
            <a:ext cx="4754880" cy="242316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554480"/>
            <a:ext cx="4480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4A261"/>
                </a:solidFill>
              </a:defRPr>
            </a:pPr>
            <a:r>
              <a:t>CASE 1: SAMPLE 061 (COMMERCIAL STILL LIFE / FOOTWEAR)</a:t>
            </a:r>
          </a:p>
          <a:p>
            <a:pPr>
              <a:spcAft>
                <a:spcPts val="300"/>
              </a:spcAft>
              <a:defRPr sz="900" b="1">
                <a:solidFill>
                  <a:srgbClr val="E74C3C"/>
                </a:solidFill>
              </a:defRPr>
            </a:pPr>
            <a:r>
              <a:t>• True Baseline (+56.8% Over-mask): </a:t>
            </a:r>
            <a:r>
              <a:rPr b="0">
                <a:solidFill>
                  <a:srgbClr val="A8A8BD"/>
                </a:solidFill>
              </a:rPr>
              <a:t>Over-masks pedestal table; MI-GAN hallucinates blurry tabletop reflections and smudges leather sole texture.</a:t>
            </a:r>
          </a:p>
          <a:p>
            <a:pPr>
              <a:spcAft>
                <a:spcPts val="300"/>
              </a:spcAft>
              <a:defRPr sz="900" b="1">
                <a:solidFill>
                  <a:srgbClr val="E74C3C"/>
                </a:solidFill>
              </a:defRPr>
            </a:pPr>
            <a:r>
              <a:t>• Legacy App (17.3% Under-mask): </a:t>
            </a:r>
            <a:r>
              <a:rPr b="0">
                <a:solidFill>
                  <a:srgbClr val="A8A8BD"/>
                </a:solidFill>
              </a:rPr>
              <a:t>Single-seed BFS prunes upper collar; severed suede ghost fragment floats permanently over display table.</a:t>
            </a:r>
          </a:p>
          <a:p>
            <a:pPr>
              <a:spcAft>
                <a:spcPts val="300"/>
              </a:spcAft>
              <a:defRPr sz="900" b="1">
                <a:solidFill>
                  <a:srgbClr val="48CAE4"/>
                </a:solidFill>
              </a:defRPr>
            </a:pPr>
            <a:r>
              <a:t>• Candidate 3 (Gold Standard): </a:t>
            </a:r>
            <a:r>
              <a:rPr b="0">
                <a:solidFill>
                  <a:srgbClr val="A8A8BD"/>
                </a:solidFill>
              </a:rPr>
              <a:t>Snaps tightly to suede boundary with 2px safety dilation; restores pristine tabletop geometry with 0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760720" cy="242316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50791"/>
            <a:ext cx="5669280" cy="23591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4023360"/>
            <a:ext cx="4754880" cy="242316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4114800"/>
            <a:ext cx="4480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48CAE4"/>
                </a:solidFill>
              </a:defRPr>
            </a:pPr>
            <a:r>
              <a:t>CASE 2: SAMPLE 001 (PORTRAIT / EYEGLASSES REMOVAL)</a:t>
            </a:r>
          </a:p>
          <a:p>
            <a:pPr>
              <a:spcAft>
                <a:spcPts val="300"/>
              </a:spcAft>
              <a:defRPr sz="900" b="1">
                <a:solidFill>
                  <a:srgbClr val="E74C3C"/>
                </a:solidFill>
              </a:defRPr>
            </a:pPr>
            <a:r>
              <a:t>• True Baseline (+73.1% Over-mask): </a:t>
            </a:r>
            <a:r>
              <a:rPr b="0">
                <a:solidFill>
                  <a:srgbClr val="A8A8BD"/>
                </a:solidFill>
              </a:rPr>
              <a:t>MI-GAN forced to hallucinate cheek and forehead skin, destroying authentic pores and natural facial shading.</a:t>
            </a:r>
          </a:p>
          <a:p>
            <a:pPr>
              <a:spcAft>
                <a:spcPts val="300"/>
              </a:spcAft>
              <a:defRPr sz="900" b="1">
                <a:solidFill>
                  <a:srgbClr val="E74C3C"/>
                </a:solidFill>
              </a:defRPr>
            </a:pPr>
            <a:r>
              <a:t>• Legacy App (20.4% Under-mask): </a:t>
            </a:r>
            <a:r>
              <a:rPr b="0">
                <a:solidFill>
                  <a:srgbClr val="A8A8BD"/>
                </a:solidFill>
              </a:rPr>
              <a:t>BFS collapses to one lens; dark temple frames float as jagged ghost edges on the face alongside GrabCut cheek bleed.</a:t>
            </a:r>
          </a:p>
          <a:p>
            <a:pPr>
              <a:spcAft>
                <a:spcPts val="300"/>
              </a:spcAft>
              <a:defRPr sz="900" b="1">
                <a:solidFill>
                  <a:srgbClr val="48CAE4"/>
                </a:solidFill>
              </a:defRPr>
            </a:pPr>
            <a:r>
              <a:t>• Candidate 3 (Gold Standard): </a:t>
            </a:r>
            <a:r>
              <a:rPr b="0">
                <a:solidFill>
                  <a:srgbClr val="A8A8BD"/>
                </a:solidFill>
              </a:rPr>
              <a:t>Multi-point medial axis sampling covers entire frame; guided filter preserves authentic facial skin texture seamlessly.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STRATEGIC RECOMMENDATION &amp; ROADMAP</a:t>
            </a:r>
          </a:p>
          <a:p>
            <a:pPr>
              <a:spcAft>
                <a:spcPts val="200"/>
              </a:spcAft>
              <a:defRPr sz="2100" b="1">
                <a:solidFill>
                  <a:srgbClr val="FFFFFF"/>
                </a:solidFill>
              </a:defRPr>
            </a:pPr>
            <a:r>
              <a:t>Production Verdict: Deploy Candidate 3; Roadmap for Candidate 2</a:t>
            </a:r>
          </a:p>
          <a:p>
            <a:pPr>
              <a:defRPr sz="1050">
                <a:solidFill>
                  <a:srgbClr val="A8A8BD"/>
                </a:solidFill>
              </a:defRPr>
            </a:pPr>
            <a:r>
              <a:t>Balancing latency, APK weight, and production stability for the next Android QIDK release.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5222E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8CAE4"/>
                </a:solidFill>
              </a:defRPr>
            </a:pPr>
            <a:r>
              <a:t>★ PRIMARY PRODUCTION WINNER: CANDIDATE 3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1. Ultra-Low Latency Match (19 ms P50 / 26 ms P90)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At 19 ms P50 / 26 ms P90, Candidate 3 adds almost zero overhead to MI-GAN's 68.0 ms pure NPU compute. Combined mask generation + inpainting finishes in ~94 ms total, preserving genuine sub-100ms 60 FPS interactivity.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2. Zero Footprint Overhead (0.0 MB Added to APK)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Leverages the existing magic_touch.tflite model already deployed in the assets folder. Eliminates App Store download friction and RAM inflation.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3. Resolves Root Cause of Both Failure Modes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Eliminating single-seed BFS pruning and GrabCut fallback abolishes the 350 ms CPU latency cliff. 2px safety dilation eliminates ghost edges while keeping over-masking below 4%.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4. Immediate Drop-In Replacement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Can be deployed directly into DeepMaskRefiner.kt without requiring native C++ pipeline refactoring or ONNX runtime upgrades.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A1A22"/>
          </a:solidFill>
          <a:ln w="1524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9D8F"/>
                </a:solidFill>
              </a:defRPr>
            </a:pPr>
            <a:r>
              <a:t>RUNNER-UP SPECIALIST &amp; ENGINEERING ROADMAP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Candidate 2 (4-Ch U-Net) for Watermarks &amp; Text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Candidate 2 achieved the highest raw boundary F1 (0.865) and zero-prompt ambiguity. It is recommended as a secondary specialist mode for removing text, watermarks, and non-semantic smudges.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Phase 1: Immediate QIDK Hotfix (Week 1)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Deploy Candidate 3 pipeline overhaul in DeepMaskRefiner.kt: multi-point medial axis sampling + Fast Guided Filter. Remove GrabCut fallback.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Phase 2: Router Integration (Week 3)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Update RouterClassifier.kt: When detect_text() flags alphanumeric typography, route masking to Candidate 2 (if bundled); otherwise default to Candidate 3.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Phase 3: Hexagon NPU Compilation (Week 4)</a:t>
            </a:r>
          </a:p>
          <a:p>
            <a:pPr>
              <a:spcAft>
                <a:spcPts val="600"/>
              </a:spcAft>
              <a:defRPr sz="900">
                <a:solidFill>
                  <a:srgbClr val="A8A8BD"/>
                </a:solidFill>
              </a:defRPr>
            </a:pPr>
            <a:r>
              <a:t>Quantize Candidate 2 into a DLC container (qairt-converter) to run directly on Hexagon HTP alongside MI-GAN at sub-20ms.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