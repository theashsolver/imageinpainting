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68" r:id="rId3"/>
    <p:sldId id="262" r:id="rId4"/>
    <p:sldId id="264" r:id="rId5"/>
    <p:sldId id="269" r:id="rId6"/>
    <p:sldId id="266" r:id="rId7"/>
    <p:sldId id="267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E1CC3-BA3E-716B-7221-4C44A4CFC435}" v="3" dt="2026-09-02T12:46:14.421"/>
    <p1510:client id="{1EC357F8-1CF1-0F61-7072-C8E588A87365}" v="565" dt="2026-09-02T09:42:47.039"/>
    <p1510:client id="{3B9E1DB3-1C31-E31A-DA60-71FE88DFD55E}" v="157" dt="2026-09-02T10:42:34.131"/>
    <p1510:client id="{D89C6078-D087-A9D1-999C-1659B4EA8EAF}" v="14" dt="2026-09-02T10:43:23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19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1559-3A6B-FEBE-C9F5-58A87FF7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D0E60-DA88-5D17-F470-FE789E976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B73F3-9CE5-4AF5-3D7E-49CC55AF8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B4FFF-42B3-2E73-7260-028B50421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0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8117-D283-D33D-B33F-A0031AFC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D7826-7E8D-CD37-63DF-013881F35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26AE3-CEDE-B03A-0A14-4D9EC66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3FE7-C1B5-E50A-CD4F-27E9857D7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85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5623-446E-8C5E-7910-7D1520F10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30966-01B3-E533-53F5-5BE8FD0EE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B4705-DC81-7B49-C0DD-DB6E3AAD1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43A9D-0B6D-CF4A-4A96-11B2DE5C4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59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9AAD-296A-9B3C-7F72-56D8853A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24A3B-1331-E8C0-4ACA-BCC8615FE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C915E-50FB-EC80-06D9-E416404F5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BAC42-8E60-2310-B575-5F5559D1C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59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result_input.png"/><Relationship Id="rId11" Type="http://schemas.openxmlformats.org/officeDocument/2006/relationships/image" Target="../media/result_mask.png"/><Relationship Id="rId12" Type="http://schemas.openxmlformats.org/officeDocument/2006/relationships/image" Target="../media/result_output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91440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of Image Inpainting Algorithms</a:t>
            </a:r>
            <a:b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 Their Optimization on the QIDK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468840"/>
            <a:ext cx="7680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Team 19 — Black &amp; White  |  Aryan Kulkarni, Ashwin Aravind, Tarsh Singh, Raghavendra Navneet Nawander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018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Prof: Dr. Deepak Gangadharan, IIIT Hyderabad    Mentor / TA: Vedant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Progress checkpoint — September 2026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77741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F304B-B65A-6A85-CE2E-6850CD08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DE5E39-E482-CE3F-D9E1-5B0A69547D91}"/>
              </a:ext>
            </a:extLst>
          </p:cNvPr>
          <p:cNvSpPr/>
          <p:nvPr/>
        </p:nvSpPr>
        <p:spPr>
          <a:xfrm>
            <a:off x="548640" y="502920"/>
            <a:ext cx="73152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2FC277-94B5-F100-8703-920AD74C2C1F}"/>
              </a:ext>
            </a:extLst>
          </p:cNvPr>
          <p:cNvSpPr/>
          <p:nvPr/>
        </p:nvSpPr>
        <p:spPr>
          <a:xfrm>
            <a:off x="548640" y="5257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E4CBE5-97C9-E029-0BAC-56F018E96707}"/>
              </a:ext>
            </a:extLst>
          </p:cNvPr>
          <p:cNvSpPr/>
          <p:nvPr/>
        </p:nvSpPr>
        <p:spPr>
          <a:xfrm>
            <a:off x="548640" y="1234440"/>
            <a:ext cx="804672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Why image inpainting, and why on-device?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1850000"/>
            <a:ext cx="8046720" cy="1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inpainting fills in missing, damaged, or masked regions of an image so the result looks natural — used for object removal, photo restoration, and generative photo editing.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Running these models on a phone (QIDK / Snapdragon) instead of the cloud means no upload latency, no server cost, and full data privacy — but mobile NPUs are far more constrained than a GPU workstation.</a:t>
            </a:r>
          </a:p>
        </p:txBody>
      </p:sp>
      <p:sp>
        <p:nvSpPr>
          <p:cNvPr id="8" name="Callout Box"/>
          <p:cNvSpPr/>
          <p:nvPr/>
        </p:nvSpPr>
        <p:spPr>
          <a:xfrm>
            <a:off x="548640" y="3500000"/>
            <a:ext cx="8046720" cy="105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Our brief (Project 10)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Evaluate multiple image-inpainting algorithms and optimize their deployment on the QIDK — comparing accuracy, speed, and hardware efficiency across CPU / GPU / NPU.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D37160-8D84-C409-751F-D7F5BDA19FAB}"/>
              </a:ext>
            </a:extLst>
          </p:cNvPr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5244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257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Motivation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6447C-288F-7A4D-FB7C-9FBB8337A99E}"/>
              </a:ext>
            </a:extLst>
          </p:cNvPr>
          <p:cNvSpPr txBox="1"/>
          <p:nvPr/>
        </p:nvSpPr>
        <p:spPr>
          <a:xfrm>
            <a:off x="518221" y="1190998"/>
            <a:ext cx="8136980" cy="35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rgbClr val="3A86FF"/>
                </a:solidFill>
                <a:ea typeface="+mn-lt"/>
                <a:cs typeface="+mn-lt"/>
              </a:rPr>
              <a:t>Domain Overview</a:t>
            </a:r>
          </a:p>
          <a:p>
            <a:r>
              <a:rPr lang="en-US" sz="1200" dirty="0">
                <a:ea typeface="+mn-lt"/>
                <a:cs typeface="+mn-lt"/>
              </a:rPr>
              <a:t>On-device AI image editing — specifically image inpainting, filling in missing or masked regions — using GAN and diffusion models running locally on Snapdragon CPU / GPU / NPU via the QIDK.</a:t>
            </a:r>
          </a:p>
          <a:p>
            <a:endParaRPr lang="en-US" sz="500" dirty="0"/>
          </a:p>
          <a:p>
            <a:r>
              <a:rPr lang="en-US" sz="1200" b="1" dirty="0">
                <a:solidFill>
                  <a:srgbClr val="3A86FF"/>
                </a:solidFill>
                <a:ea typeface="+mn-lt"/>
                <a:cs typeface="+mn-lt"/>
              </a:rPr>
              <a:t>Existing Work</a:t>
            </a:r>
          </a:p>
          <a:p>
            <a:r>
              <a:rPr lang="en-US" sz="1200" dirty="0">
                <a:ea typeface="+mn-lt"/>
                <a:cs typeface="+mn-lt"/>
              </a:rPr>
              <a:t>Strong pretrained inpainting families already exist (AOT-GAN, LaMa, MI-GAN, Stable Diffusion Inpainting), but mostly benchmarked on cloud GPUs rather than mobile silicon.</a:t>
            </a:r>
          </a:p>
          <a:p>
            <a:endParaRPr lang="en-US" sz="500" dirty="0"/>
          </a:p>
          <a:p>
            <a:r>
              <a:rPr lang="en-US" sz="1200" b="1" dirty="0">
                <a:solidFill>
                  <a:srgbClr val="3A86FF"/>
                </a:solidFill>
                <a:ea typeface="+mn-lt"/>
                <a:cs typeface="+mn-lt"/>
              </a:rPr>
              <a:t>Existing Gaps</a:t>
            </a:r>
          </a:p>
          <a:p>
            <a:r>
              <a:rPr lang="en-US" sz="1200" dirty="0">
                <a:ea typeface="+mn-lt"/>
                <a:cs typeface="+mn-lt"/>
              </a:rPr>
              <a:t>No consolidated evaluation of accuracy / speed / energy trade-offs across GAN and diffusion inpainting on real Qualcomm edge hardware; ONNX→DLC conversion and INT8-quantization pain points are poorly documented.</a:t>
            </a:r>
          </a:p>
          <a:p>
            <a:endParaRPr lang="en-US" sz="500" dirty="0"/>
          </a:p>
          <a:p>
            <a:r>
              <a:rPr lang="en-US" sz="1200" b="1" dirty="0">
                <a:solidFill>
                  <a:srgbClr val="3A86FF"/>
                </a:solidFill>
                <a:ea typeface="+mn-lt"/>
                <a:cs typeface="+mn-lt"/>
              </a:rPr>
              <a:t>Reason for this Domain</a:t>
            </a:r>
          </a:p>
          <a:p>
            <a:r>
              <a:rPr lang="en-US" sz="1200" dirty="0">
                <a:ea typeface="+mn-lt"/>
                <a:cs typeface="+mn-lt"/>
              </a:rPr>
              <a:t>On-device inpainting removes upload latency, server cost, and privacy risk for photo-editing features — directly relevant to Qualcomm's on-device AI push and real camera / gallery apps.</a:t>
            </a:r>
          </a:p>
        </p:txBody>
      </p:sp>
    </p:spTree>
    <p:extLst>
      <p:ext uri="{BB962C8B-B14F-4D97-AF65-F5344CB8AC3E}">
        <p14:creationId xmlns:p14="http://schemas.microsoft.com/office/powerpoint/2010/main" val="206624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Proposed Solution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AC308E-6B1F-7543-5169-C5A7240D4891}"/>
              </a:ext>
            </a:extLst>
          </p:cNvPr>
          <p:cNvSpPr txBox="1"/>
          <p:nvPr/>
        </p:nvSpPr>
        <p:spPr>
          <a:xfrm>
            <a:off x="545495" y="1145549"/>
            <a:ext cx="8091500" cy="362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3A86FF"/>
                </a:solidFill>
                <a:ea typeface="Calibri"/>
                <a:cs typeface="Calibri"/>
              </a:rPr>
              <a:t>What is the Plan of Action?</a:t>
            </a:r>
          </a:p>
          <a:p>
            <a:r>
              <a:rPr lang="en-US" sz="1300" dirty="0">
                <a:ea typeface="Calibri"/>
                <a:cs typeface="Calibri"/>
              </a:rPr>
              <a:t>Deploy and benchmark four inpainting models on the QIDK, covering export (PyTorch/HF → ONNX), ONNX→DLC conversion, INT8 quantization, on-device execution across CPU / GPU / HTP, and a 200-image benchmark harness.</a:t>
            </a:r>
          </a:p>
          <a:p>
            <a:endParaRPr lang="en-US" sz="500" dirty="0"/>
          </a:p>
          <a:p>
            <a:r>
              <a:rPr lang="en-US" sz="1300" b="1" dirty="0">
                <a:solidFill>
                  <a:srgbClr val="3A86FF"/>
                </a:solidFill>
                <a:ea typeface="Calibri"/>
                <a:cs typeface="Calibri"/>
              </a:rPr>
              <a:t>What are the current State-of-the-Art Solutions?</a:t>
            </a:r>
          </a:p>
          <a:p>
            <a:r>
              <a:rPr lang="en-US" sz="1300" dirty="0">
                <a:ea typeface="Calibri"/>
                <a:cs typeface="Calibri"/>
              </a:rPr>
              <a:t>AOT-GAN and LaMa-Dilated (Fourier-convolution GAN, strong on large masks) as fast GAN baselines; MI-GAN as a mobile-optimized GAN; Stable Diffusion Inpainting for full text-guided generative inpainting.</a:t>
            </a:r>
          </a:p>
          <a:p>
            <a:endParaRPr lang="en-US" sz="500" dirty="0"/>
          </a:p>
          <a:p>
            <a:r>
              <a:rPr lang="en-US" sz="1300" b="1" dirty="0">
                <a:solidFill>
                  <a:srgbClr val="3A86FF"/>
                </a:solidFill>
                <a:ea typeface="Calibri"/>
                <a:cs typeface="Calibri"/>
              </a:rPr>
              <a:t>What are the Key Features &amp; Functionalities?</a:t>
            </a:r>
          </a:p>
          <a:p>
            <a:r>
              <a:rPr lang="en-US" sz="1300" dirty="0">
                <a:ea typeface="Calibri"/>
                <a:cs typeface="Calibri"/>
              </a:rPr>
              <a:t>Native Hexagon HTP (NPU) execution for all three GAN models; an end-to-end on-device Stable Diffusion pipeline (custom tokenizer, VAE, latent masking, Euler scheduler); a single-command benchmark harness reporting PSNR / SSIM / LPIPS with live thermal and power telemetry.</a:t>
            </a:r>
          </a:p>
        </p:txBody>
      </p:sp>
    </p:spTree>
    <p:extLst>
      <p:ext uri="{BB962C8B-B14F-4D97-AF65-F5344CB8AC3E}">
        <p14:creationId xmlns:p14="http://schemas.microsoft.com/office/powerpoint/2010/main" val="3561598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90A5A-AD66-ECF5-C850-572DA9712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ED4A28-610B-4933-4744-101D2F0CC167}"/>
              </a:ext>
            </a:extLst>
          </p:cNvPr>
          <p:cNvSpPr/>
          <p:nvPr/>
        </p:nvSpPr>
        <p:spPr>
          <a:xfrm>
            <a:off x="548640" y="502920"/>
            <a:ext cx="73152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9A1A5C-B376-404C-91DC-00FE390CFAAB}"/>
              </a:ext>
            </a:extLst>
          </p:cNvPr>
          <p:cNvSpPr/>
          <p:nvPr/>
        </p:nvSpPr>
        <p:spPr>
          <a:xfrm>
            <a:off x="54864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Sensors Used &amp; Diagrams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DC7812-7765-54D4-E369-0A7EFE15E449}"/>
              </a:ext>
            </a:extLst>
          </p:cNvPr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/>
          </a:p>
        </p:txBody>
      </p:sp>
      <p:sp>
        <p:nvSpPr>
          <p:cNvPr id="20" name="Hdr1"/>
          <p:cNvSpPr/>
          <p:nvPr/>
        </p:nvSpPr>
        <p:spPr>
          <a:xfrm>
            <a:off x="548640" y="115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Compute Engines Used — the QIDK’s four compute paths</a:t>
            </a:r>
          </a:p>
        </p:txBody>
      </p:sp>
      <p:sp>
        <p:nvSpPr>
          <p:cNvPr id="21" name="Card0"/>
          <p:cNvSpPr/>
          <p:nvPr/>
        </p:nvSpPr>
        <p:spPr>
          <a:xfrm>
            <a:off x="548640" y="1500000"/>
            <a:ext cx="1890000" cy="950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txBody>
          <a:bodyPr wrap="square" lIns="109728" tIns="73152" rIns="109728" bIns="73152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CPU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General purpose; slowest but most flexible. First working target for every model.</a:t>
            </a:r>
          </a:p>
        </p:txBody>
      </p:sp>
      <p:sp>
        <p:nvSpPr>
          <p:cNvPr id="22" name="Card1"/>
          <p:cNvSpPr/>
          <p:nvPr/>
        </p:nvSpPr>
        <p:spPr>
          <a:xfrm>
            <a:off x="2588640" y="1500000"/>
            <a:ext cx="1890000" cy="950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txBody>
          <a:bodyPr wrap="square" lIns="109728" tIns="73152" rIns="109728" bIns="73152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GPU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Good throughput for dense matrix ops; mid-point sanity check before NPU deployment.</a:t>
            </a:r>
          </a:p>
        </p:txBody>
      </p:sp>
      <p:sp>
        <p:nvSpPr>
          <p:cNvPr id="23" name="Card2"/>
          <p:cNvSpPr/>
          <p:nvPr/>
        </p:nvSpPr>
        <p:spPr>
          <a:xfrm>
            <a:off x="4628640" y="1500000"/>
            <a:ext cx="1890000" cy="950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txBody>
          <a:bodyPr wrap="square" lIns="109728" tIns="73152" rIns="109728" bIns="73152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HTP / DSP (NPU)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Hexagon Tensor Processor — the fast, low-power engine phones ship AI on. Needs INT8 models.</a:t>
            </a:r>
          </a:p>
        </p:txBody>
      </p:sp>
      <p:sp>
        <p:nvSpPr>
          <p:cNvPr id="24" name="Card3"/>
          <p:cNvSpPr/>
          <p:nvPr/>
        </p:nvSpPr>
        <p:spPr>
          <a:xfrm>
            <a:off x="6668640" y="1500000"/>
            <a:ext cx="1890000" cy="950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txBody>
          <a:bodyPr wrap="square" lIns="109728" tIns="73152" rIns="109728" bIns="73152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AIP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accelerator path exposed by SNPE for select model graphs; explored as an alternate NPU route.</a:t>
            </a:r>
          </a:p>
        </p:txBody>
      </p:sp>
      <p:sp>
        <p:nvSpPr>
          <p:cNvPr id="30" name="Hdr2"/>
          <p:cNvSpPr/>
          <p:nvPr/>
        </p:nvSpPr>
        <p:spPr>
          <a:xfrm>
            <a:off x="548640" y="262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Deployment Pipeline Diagram — trained model to on-device inference</a:t>
            </a:r>
          </a:p>
        </p:txBody>
      </p:sp>
      <p:sp>
        <p:nvSpPr>
          <p:cNvPr id="40" name="Step0"/>
          <p:cNvSpPr/>
          <p:nvPr/>
        </p:nvSpPr>
        <p:spPr>
          <a:xfrm>
            <a:off x="638400" y="2980000"/>
            <a:ext cx="1180000" cy="780000"/>
          </a:xfrm>
          <a:prstGeom prst="roundRect">
            <a:avLst>
              <a:gd name="adj" fmla="val 8000"/>
            </a:avLst>
          </a:prstGeom>
          <a:solidFill>
            <a:srgbClr val="3A86FF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Export</a:t>
            </a:r>
          </a:p>
        </p:txBody>
      </p:sp>
      <p:sp>
        <p:nvSpPr>
          <p:cNvPr id="41" name="Arrow0"/>
          <p:cNvSpPr/>
          <p:nvPr/>
        </p:nvSpPr>
        <p:spPr>
          <a:xfrm>
            <a:off x="1818400" y="2980000"/>
            <a:ext cx="1574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42" name="Step1"/>
          <p:cNvSpPr/>
          <p:nvPr/>
        </p:nvSpPr>
        <p:spPr>
          <a:xfrm>
            <a:off x="1975840" y="2980000"/>
            <a:ext cx="1180000" cy="780000"/>
          </a:xfrm>
          <a:prstGeom prst="roundRect">
            <a:avLst>
              <a:gd name="adj" fmla="val 8000"/>
            </a:avLst>
          </a:prstGeom>
          <a:solidFill>
            <a:srgbClr val="3A86FF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Convert</a:t>
            </a:r>
          </a:p>
        </p:txBody>
      </p:sp>
      <p:sp>
        <p:nvSpPr>
          <p:cNvPr id="43" name="Arrow1"/>
          <p:cNvSpPr/>
          <p:nvPr/>
        </p:nvSpPr>
        <p:spPr>
          <a:xfrm>
            <a:off x="3155840" y="2980000"/>
            <a:ext cx="1574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44" name="Step2"/>
          <p:cNvSpPr/>
          <p:nvPr/>
        </p:nvSpPr>
        <p:spPr>
          <a:xfrm>
            <a:off x="3313280" y="2980000"/>
            <a:ext cx="1180000" cy="780000"/>
          </a:xfrm>
          <a:prstGeom prst="roundRect">
            <a:avLst>
              <a:gd name="adj" fmla="val 8000"/>
            </a:avLst>
          </a:prstGeom>
          <a:solidFill>
            <a:srgbClr val="3A86FF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Quantize</a:t>
            </a:r>
          </a:p>
        </p:txBody>
      </p:sp>
      <p:sp>
        <p:nvSpPr>
          <p:cNvPr id="45" name="Arrow2"/>
          <p:cNvSpPr/>
          <p:nvPr/>
        </p:nvSpPr>
        <p:spPr>
          <a:xfrm>
            <a:off x="4493280" y="2980000"/>
            <a:ext cx="1574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46" name="Step3"/>
          <p:cNvSpPr/>
          <p:nvPr/>
        </p:nvSpPr>
        <p:spPr>
          <a:xfrm>
            <a:off x="4650720" y="2980000"/>
            <a:ext cx="1180000" cy="780000"/>
          </a:xfrm>
          <a:prstGeom prst="roundRect">
            <a:avLst>
              <a:gd name="adj" fmla="val 8000"/>
            </a:avLst>
          </a:prstGeom>
          <a:solidFill>
            <a:srgbClr val="3A86FF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Push</a:t>
            </a:r>
          </a:p>
        </p:txBody>
      </p:sp>
      <p:sp>
        <p:nvSpPr>
          <p:cNvPr id="47" name="Arrow3"/>
          <p:cNvSpPr/>
          <p:nvPr/>
        </p:nvSpPr>
        <p:spPr>
          <a:xfrm>
            <a:off x="5830720" y="2980000"/>
            <a:ext cx="1574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48" name="Step4"/>
          <p:cNvSpPr/>
          <p:nvPr/>
        </p:nvSpPr>
        <p:spPr>
          <a:xfrm>
            <a:off x="5988160" y="2980000"/>
            <a:ext cx="1180000" cy="780000"/>
          </a:xfrm>
          <a:prstGeom prst="roundRect">
            <a:avLst>
              <a:gd name="adj" fmla="val 8000"/>
            </a:avLst>
          </a:prstGeom>
          <a:solidFill>
            <a:srgbClr val="3A86FF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Run</a:t>
            </a:r>
          </a:p>
        </p:txBody>
      </p:sp>
      <p:sp>
        <p:nvSpPr>
          <p:cNvPr id="49" name="Arrow4"/>
          <p:cNvSpPr/>
          <p:nvPr/>
        </p:nvSpPr>
        <p:spPr>
          <a:xfrm>
            <a:off x="7168160" y="2980000"/>
            <a:ext cx="1574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50" name="Step5"/>
          <p:cNvSpPr/>
          <p:nvPr/>
        </p:nvSpPr>
        <p:spPr>
          <a:xfrm>
            <a:off x="7325600" y="2980000"/>
            <a:ext cx="1180000" cy="780000"/>
          </a:xfrm>
          <a:prstGeom prst="roundRect">
            <a:avLst>
              <a:gd name="adj" fmla="val 8000"/>
            </a:avLst>
          </a:prstGeom>
          <a:solidFill>
            <a:srgbClr val="3A86FF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Pull &amp; Decode</a:t>
            </a:r>
          </a:p>
        </p:txBody>
      </p:sp>
      <p:sp>
        <p:nvSpPr>
          <p:cNvPr id="60" name="Note"/>
          <p:cNvSpPr/>
          <p:nvPr/>
        </p:nvSpPr>
        <p:spPr>
          <a:xfrm>
            <a:off x="548640" y="3900000"/>
            <a:ext cx="8046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PyTorch/HF → ONNX → .dlc (Qualcomm QAIRT) → INT8 calibration for the HTP → adb push to device → snpe-net-run on CPU/GPU/HTP → adb pull raw output, reassembled to PNG.</a:t>
            </a:r>
          </a:p>
        </p:txBody>
      </p:sp>
    </p:spTree>
    <p:extLst>
      <p:ext uri="{BB962C8B-B14F-4D97-AF65-F5344CB8AC3E}">
        <p14:creationId xmlns:p14="http://schemas.microsoft.com/office/powerpoint/2010/main" val="58280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D868C-F415-B367-EBC8-D294A106A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4EE96B-2FDE-B319-32FE-0395DC1E6745}"/>
              </a:ext>
            </a:extLst>
          </p:cNvPr>
          <p:cNvSpPr/>
          <p:nvPr/>
        </p:nvSpPr>
        <p:spPr>
          <a:xfrm>
            <a:off x="548640" y="502920"/>
            <a:ext cx="73152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0BB31A-A464-6883-BE38-D9914737689E}"/>
              </a:ext>
            </a:extLst>
          </p:cNvPr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CEE770-D826-7968-0B47-B89C699A915E}"/>
              </a:ext>
            </a:extLst>
          </p:cNvPr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D99D68D-6446-3F47-25FA-387C9249ADAF}"/>
              </a:ext>
            </a:extLst>
          </p:cNvPr>
          <p:cNvSpPr/>
          <p:nvPr/>
        </p:nvSpPr>
        <p:spPr>
          <a:xfrm>
            <a:off x="54864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Initial Results</a:t>
            </a:r>
            <a:endParaRPr lang="en-US" dirty="0"/>
          </a:p>
        </p:txBody>
      </p:sp>
      <p:sp>
        <p:nvSpPr>
          <p:cNvPr id="20" name="Metric0"/>
          <p:cNvSpPr/>
          <p:nvPr/>
        </p:nvSpPr>
        <p:spPr>
          <a:xfrm>
            <a:off x="548640" y="1150000"/>
            <a:ext cx="1890000" cy="85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4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models running natively on the NPU</a:t>
            </a:r>
          </a:p>
        </p:txBody>
      </p:sp>
      <p:sp>
        <p:nvSpPr>
          <p:cNvPr id="21" name="Metric1"/>
          <p:cNvSpPr/>
          <p:nvPr/>
        </p:nvSpPr>
        <p:spPr>
          <a:xfrm>
            <a:off x="2588640" y="1150000"/>
            <a:ext cx="1890000" cy="85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200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pairs in our benchmark set</a:t>
            </a:r>
          </a:p>
        </p:txBody>
      </p:sp>
      <p:sp>
        <p:nvSpPr>
          <p:cNvPr id="22" name="Metric2"/>
          <p:cNvSpPr/>
          <p:nvPr/>
        </p:nvSpPr>
        <p:spPr>
          <a:xfrm>
            <a:off x="4628640" y="1150000"/>
            <a:ext cx="1890000" cy="85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0.62 J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 repair — MI-GAN, our efficiency champion</a:t>
            </a:r>
          </a:p>
        </p:txBody>
      </p:sp>
      <p:sp>
        <p:nvSpPr>
          <p:cNvPr id="23" name="Metric3"/>
          <p:cNvSpPr/>
          <p:nvPr/>
        </p:nvSpPr>
        <p:spPr>
          <a:xfrm>
            <a:off x="6668640" y="1150000"/>
            <a:ext cx="1890000" cy="85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28.3 dB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best global PSNR — AOT-GAN</a:t>
            </a:r>
          </a:p>
        </p:txBody>
      </p:sp>
      <p:pic>
        <p:nvPicPr>
          <p:cNvPr id="40" name="InputIm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4000" y="2150000"/>
            <a:ext cx="2333000" cy="1500000"/>
          </a:xfrm>
          <a:prstGeom prst="rect">
            <a:avLst/>
          </a:prstGeom>
        </p:spPr>
      </p:pic>
      <p:sp>
        <p:nvSpPr>
          <p:cNvPr id="41" name="InputLbl"/>
          <p:cNvSpPr/>
          <p:nvPr/>
        </p:nvSpPr>
        <p:spPr>
          <a:xfrm>
            <a:off x="1314000" y="3690000"/>
            <a:ext cx="2333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pic>
        <p:nvPicPr>
          <p:cNvPr id="42" name="MaskIm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7000" y="2150000"/>
            <a:ext cx="2333000" cy="1500000"/>
          </a:xfrm>
          <a:prstGeom prst="rect">
            <a:avLst/>
          </a:prstGeom>
        </p:spPr>
      </p:pic>
      <p:sp>
        <p:nvSpPr>
          <p:cNvPr id="43" name="MaskLbl"/>
          <p:cNvSpPr/>
          <p:nvPr/>
        </p:nvSpPr>
        <p:spPr>
          <a:xfrm>
            <a:off x="3797000" y="3690000"/>
            <a:ext cx="2333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Mask</a:t>
            </a:r>
          </a:p>
        </p:txBody>
      </p:sp>
      <p:pic>
        <p:nvPicPr>
          <p:cNvPr id="44" name="OutputIm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0000" y="2150000"/>
            <a:ext cx="1550000" cy="1500000"/>
          </a:xfrm>
          <a:prstGeom prst="rect">
            <a:avLst/>
          </a:prstGeom>
        </p:spPr>
      </p:pic>
      <p:sp>
        <p:nvSpPr>
          <p:cNvPr id="45" name="OutputLbl"/>
          <p:cNvSpPr/>
          <p:nvPr/>
        </p:nvSpPr>
        <p:spPr>
          <a:xfrm>
            <a:off x="6280000" y="3690000"/>
            <a:ext cx="155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60" name="Caption"/>
          <p:cNvSpPr/>
          <p:nvPr/>
        </p:nvSpPr>
        <p:spPr>
          <a:xfrm>
            <a:off x="548640" y="3980000"/>
            <a:ext cx="804672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Wildlife scene: the masked antelope is removed and the plains background is regenerated to match lighting and grass texture — a real, unedited output from our on-device GAN pipeline.</a:t>
            </a:r>
          </a:p>
        </p:txBody>
      </p:sp>
    </p:spTree>
    <p:extLst>
      <p:ext uri="{BB962C8B-B14F-4D97-AF65-F5344CB8AC3E}">
        <p14:creationId xmlns:p14="http://schemas.microsoft.com/office/powerpoint/2010/main" val="343027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363BA-0778-6C5E-7A52-E889C04B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493256-CA92-CBAA-443E-3842F5BEAA97}"/>
              </a:ext>
            </a:extLst>
          </p:cNvPr>
          <p:cNvSpPr/>
          <p:nvPr/>
        </p:nvSpPr>
        <p:spPr>
          <a:xfrm>
            <a:off x="548640" y="502920"/>
            <a:ext cx="73152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255C94-A2F3-30C8-8E3C-0716F2FF8BA2}"/>
              </a:ext>
            </a:extLst>
          </p:cNvPr>
          <p:cNvSpPr/>
          <p:nvPr/>
        </p:nvSpPr>
        <p:spPr>
          <a:xfrm>
            <a:off x="54864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A1A2E"/>
                </a:solidFill>
                <a:ea typeface="Calibri"/>
                <a:cs typeface="Calibri"/>
              </a:rPr>
              <a:t>Project Status</a:t>
            </a:r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177F3D-3DEF-8560-879A-AAECFF5A411E}"/>
              </a:ext>
            </a:extLst>
          </p:cNvPr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75E7E-CB45-6B05-6B6A-B747C01425AB}"/>
              </a:ext>
            </a:extLst>
          </p:cNvPr>
          <p:cNvSpPr txBox="1"/>
          <p:nvPr/>
        </p:nvSpPr>
        <p:spPr>
          <a:xfrm>
            <a:off x="548640" y="1145549"/>
            <a:ext cx="8046720" cy="362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50" b="1" dirty="0">
                <a:solidFill>
                  <a:srgbClr val="3A86FF"/>
                </a:solidFill>
                <a:ea typeface="+mn-lt"/>
                <a:cs typeface="+mn-lt"/>
              </a:rPr>
              <a:t>Demonstration</a:t>
            </a:r>
          </a:p>
          <a:p>
            <a:pPr marL="228600" indent="-228600">
              <a:buFont typeface="Arial"/>
              <a:buChar char="•"/>
            </a:pPr>
            <a:r>
              <a:rPr lang="en-US" sz="1150" dirty="0">
                <a:ea typeface="+mn-lt"/>
                <a:cs typeface="+mn-lt"/>
              </a:rPr>
              <a:t>Full GAN inpainting pipeline running natively on the Hexagon HTP (NPU) — AOT-GAN, LaMa-Dilated, and our own compiled MI-GAN.</a:t>
            </a:r>
          </a:p>
          <a:p>
            <a:pPr marL="228600" indent="-228600">
              <a:buFont typeface="Arial"/>
              <a:buChar char="•"/>
            </a:pPr>
            <a:r>
              <a:rPr lang="en-US" sz="1150" dirty="0">
                <a:ea typeface="+mn-lt"/>
                <a:cs typeface="+mn-lt"/>
              </a:rPr>
              <a:t>End-to-end on-device Stable Diffusion pipeline generating real images from a text prompt (e.g. “A cat”, “A cinematic shot of sunset”) in ~15s, including full text-guided inpainting.</a:t>
            </a:r>
          </a:p>
          <a:p>
            <a:endParaRPr lang="en-US" sz="400" dirty="0"/>
          </a:p>
          <a:p>
            <a:r>
              <a:rPr lang="en-US" sz="1250" b="1" dirty="0">
                <a:solidFill>
                  <a:srgbClr val="3A86FF"/>
                </a:solidFill>
                <a:ea typeface="+mn-lt"/>
                <a:cs typeface="+mn-lt"/>
              </a:rPr>
              <a:t>Challenges &amp; Risks</a:t>
            </a:r>
          </a:p>
          <a:p>
            <a:pPr marL="228600" indent="-228600">
              <a:buFont typeface="Arial"/>
              <a:buChar char="•"/>
            </a:pPr>
            <a:r>
              <a:rPr lang="en-US" sz="1150" dirty="0">
                <a:ea typeface="+mn-lt"/>
                <a:cs typeface="+mn-lt"/>
              </a:rPr>
              <a:t>HTP v79 driver mismatch (SNPE v2.47 vs v2.49) initially blocked NPU execution — resolved by syncing the full v2.49 HTP runtime stack.</a:t>
            </a:r>
          </a:p>
          <a:p>
            <a:pPr marL="228600" indent="-228600">
              <a:buFont typeface="Arial"/>
              <a:buChar char="•"/>
            </a:pPr>
            <a:r>
              <a:rPr lang="en-US" sz="1150" dirty="0">
                <a:ea typeface="+mn-lt"/>
                <a:cs typeface="+mn-lt"/>
              </a:rPr>
              <a:t>MI-GAN ships as PyTorch only, with no ready .dlc — we exported to ONNX and compiled/quantized it in-house.</a:t>
            </a:r>
          </a:p>
          <a:p>
            <a:pPr marL="228600" indent="-228600">
              <a:buFont typeface="Arial"/>
              <a:buChar char="•"/>
            </a:pPr>
            <a:r>
              <a:rPr lang="en-US" sz="1150" dirty="0">
                <a:ea typeface="+mn-lt"/>
                <a:cs typeface="+mn-lt"/>
              </a:rPr>
              <a:t>Stable Diffusion's pixel-alignment scores (PSNR/SSIM) trail the GANs — expected, since diffusion hallucinates plausible new content rather than matching ground truth; not a bug.</a:t>
            </a:r>
          </a:p>
        </p:txBody>
      </p:sp>
    </p:spTree>
    <p:extLst>
      <p:ext uri="{BB962C8B-B14F-4D97-AF65-F5344CB8AC3E}">
        <p14:creationId xmlns:p14="http://schemas.microsoft.com/office/powerpoint/2010/main" val="152456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457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C34E6B1-6335-B6AA-CD0B-B0D972819157}"/>
              </a:ext>
            </a:extLst>
          </p:cNvPr>
          <p:cNvSpPr/>
          <p:nvPr/>
        </p:nvSpPr>
        <p:spPr>
          <a:xfrm>
            <a:off x="54864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Timeline &amp; </a:t>
            </a:r>
            <a:r>
              <a:rPr lang="en-US" sz="2800" b="1" dirty="0">
                <a:solidFill>
                  <a:srgbClr val="1A1A2E"/>
                </a:solidFill>
                <a:ea typeface="+mn-lt"/>
                <a:cs typeface="+mn-lt"/>
              </a:rPr>
              <a:t>Next Steps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125EC-5D8B-409E-1EE7-B947034FD08D}"/>
              </a:ext>
            </a:extLst>
          </p:cNvPr>
          <p:cNvSpPr txBox="1"/>
          <p:nvPr/>
        </p:nvSpPr>
        <p:spPr>
          <a:xfrm>
            <a:off x="396428" y="1106311"/>
            <a:ext cx="3862870" cy="3641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AF438-DB5E-5220-2974-6C8BD77F589F}"/>
              </a:ext>
            </a:extLst>
          </p:cNvPr>
          <p:cNvSpPr txBox="1"/>
          <p:nvPr/>
        </p:nvSpPr>
        <p:spPr>
          <a:xfrm>
            <a:off x="267358" y="1198504"/>
            <a:ext cx="39827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Timeline for the Project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3EAABE-F4B1-E6C8-7DC9-E3983B93A938}"/>
              </a:ext>
            </a:extLst>
          </p:cNvPr>
          <p:cNvGraphicFramePr>
            <a:graphicFrameLocks noGrp="1"/>
          </p:cNvGraphicFramePr>
          <p:nvPr/>
        </p:nvGraphicFramePr>
        <p:xfrm>
          <a:off x="393667" y="1750000"/>
          <a:ext cx="83404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197330086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1553456065"/>
                    </a:ext>
                  </a:extLst>
                </a:gridCol>
                <a:gridCol w="4040480">
                  <a:extLst>
                    <a:ext uri="{9D8B030D-6E8A-4147-A177-3AD203B41FA5}">
                      <a16:colId xmlns:a16="http://schemas.microsoft.com/office/drawing/2014/main" val="814163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95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Now (Sep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Full 200-pair benchmark completed on all 4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Live thermal/power telemetry; PSNR/SSIM/LPIPS captured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Custom 9-input UNet for Stable Diffusion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Purpose-built latent input to fix SD's inpainting quality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Model optimization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Complete LaMa .dlc pipeline; per-channel quantization; explore pruning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Hardware optimization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HTP vs. GPU vs. CPU sweep; runtime tuning; delegate/init caching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Adaptive model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Router picks the best model per image and system state</a:t>
                      </a:r>
                    </a:p>
                  </a:txBody>
                  <a:tcPr/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20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41</Words>
  <Application>Microsoft Office PowerPoint</Application>
  <PresentationFormat>On-screen Show (16:9)</PresentationFormat>
  <Paragraphs>16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ESW Workshop 1 - Template</dc:title>
  <dc:subject>PptxGenJS Presentation</dc:subject>
  <dc:creator>ESW Workshop</dc:creator>
  <cp:lastModifiedBy>Vadla Nithin Narasimha</cp:lastModifiedBy>
  <cp:revision>122</cp:revision>
  <dcterms:created xsi:type="dcterms:W3CDTF">2026-08-11T10:06:40Z</dcterms:created>
  <dcterms:modified xsi:type="dcterms:W3CDTF">2026-09-03T08:38:55Z</dcterms:modified>
</cp:coreProperties>
</file>